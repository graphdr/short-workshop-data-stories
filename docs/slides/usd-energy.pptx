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58" r:id="rId3"/>
    <p:sldId id="261" r:id="rId4"/>
    <p:sldId id="262" r:id="rId5"/>
    <p:sldId id="279" r:id="rId6"/>
    <p:sldId id="264" r:id="rId7"/>
    <p:sldId id="278" r:id="rId8"/>
    <p:sldId id="256" r:id="rId9"/>
    <p:sldId id="260" r:id="rId10"/>
    <p:sldId id="259" r:id="rId11"/>
    <p:sldId id="271" r:id="rId12"/>
    <p:sldId id="272" r:id="rId13"/>
    <p:sldId id="265" r:id="rId14"/>
    <p:sldId id="267" r:id="rId15"/>
    <p:sldId id="280" r:id="rId16"/>
    <p:sldId id="257" r:id="rId17"/>
    <p:sldId id="266" r:id="rId18"/>
    <p:sldId id="273" r:id="rId19"/>
    <p:sldId id="274" r:id="rId20"/>
    <p:sldId id="275" r:id="rId2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60"/>
  </p:normalViewPr>
  <p:slideViewPr>
    <p:cSldViewPr snapToGrid="0">
      <p:cViewPr>
        <p:scale>
          <a:sx n="120" d="100"/>
          <a:sy n="120" d="100"/>
        </p:scale>
        <p:origin x="71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5FDF2-9D78-4FA6-8D0B-1C0BA18FB9A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88291-47D1-47EB-9581-8CA6A3F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1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BF93-3142-9726-01FC-F704617A6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97CEF-3723-A40D-6BD6-EC050A948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6F2A-D159-625B-97FD-BDD1DB97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9BC68-D7EA-4BF0-7C92-ECA35AB4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09CE-CCA1-0F47-404E-BCD34DA5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1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3FBF-192F-B538-71E2-38CB25C2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308DE-3F3F-46C8-AC97-CE497EAAF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3671E-8236-918A-9422-3D8EF356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1AA11-FEC3-E2E8-CFCE-7E89D9D1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52DCD-1993-5034-D4E6-050853DE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3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1517-C676-C92F-5EA1-E4416ED6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808D3-7334-D64C-EE23-8409BDBA1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A2DA-0CE2-7F6F-C451-66FBC3B9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A8-98F1-13FF-B0AD-9AD7BF0D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6202-EF8C-BFE1-9739-EED622CC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0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AC13-30C6-9BCF-D216-117F2DBA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740F-60BE-2E64-1A8B-B08279C73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D4C03-FB2E-F42D-4019-C3752620E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A59E-95CB-48FE-F5D8-A0EBA7D9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76B3E-48A5-B9D2-864E-6BAFDDF6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8976F-B5D8-9870-D0AC-CDD6D260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D80B-A3B4-B44A-E5C2-9926C83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763B8-60DF-C980-3405-DE0D30E7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E632D-A37F-6FD4-E640-DFE25EC43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F577E-CC0F-111D-9F16-A81EC0132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47741-E04F-F588-C880-80EDAE5A6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8FDF4-485B-9076-0A33-23C64E42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4CD05-C02F-6B04-8E63-E193EC10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D564E-DD24-0EE7-FEA1-32FD1862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9E55-C14E-9BA6-8BCD-368BD458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3EDE-FE43-3B83-069D-A36F6941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F7F21-6C2E-F414-5554-51CA5624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A60B1-8A7F-D5E9-6F67-69F21E53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8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6F7E8-B3D5-BCF1-6A6C-AA6628F2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BAD13-4212-C0AF-0BBF-4A377C5A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0827-C287-0BC0-3504-CB4CC7CD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0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92E9-E6FD-ED75-C64F-068BD85A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A6D1-DA6D-19EF-26C7-F2228112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D744F-FB99-3E08-AA78-0874E4941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44E18-A4E7-0FAB-2A9E-CFD4617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003E3-C906-72CD-60B6-1A5A58CF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78A9F-D906-C1CA-ADE5-EAC31C99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6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7732-2CB3-B144-512D-19F401B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ECCDE-F9B8-4811-B271-D6ABF78F5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6B482-71F7-8523-2DFC-272A23248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459FD-F58A-2362-6C23-8490AB57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1CF0F-9F08-6064-0024-9ED23334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F47DC-E24D-A303-818A-A6124094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3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4F06-DAF6-518D-8322-2EB04655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0D9C5-A25D-7613-7713-9A91B5EED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B9D4-75C3-16CC-36FC-E617DDF9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45E4D-F710-2F64-EB56-BB90C6BE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A2F70-A2F9-907B-F742-4E45A32B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1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2343F-D13C-C892-7F40-DE3E06C0D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64390-B3C9-B47B-F7CE-E1C0E470F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2DCE5-B36F-D6A5-66B4-433A332A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7C870-2E5B-7810-E5D8-78C292C1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6A95-CC9D-0D6A-D214-F5B1FC62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141D3-5F99-AA04-024D-5B81A481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65DF-3F27-018B-3F22-40B7B0862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A7E5-7DFD-DFDE-E5DF-CA3145167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1B898-0EB5-42B9-BCB4-7B3C7459A56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8F1A3-D0C7-1E4F-3599-FF764D3C5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2172-B6C5-7905-2E59-979840959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9C965-51B4-4D8D-86CB-CFA52EBD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CBF3-9C02-248F-2E91-D4484FF59C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Aligning the design to the 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014B-AAED-0146-6C84-E4A5F21E7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Redesign a chart to find what stories might be in the data </a:t>
            </a:r>
          </a:p>
        </p:txBody>
      </p:sp>
    </p:spTree>
    <p:extLst>
      <p:ext uri="{BB962C8B-B14F-4D97-AF65-F5344CB8AC3E}">
        <p14:creationId xmlns:p14="http://schemas.microsoft.com/office/powerpoint/2010/main" val="142727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05D5C7-252C-B70D-0B16-6A9755E6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475B0D-2C83-C610-4295-BE85C27CA9FA}"/>
              </a:ext>
            </a:extLst>
          </p:cNvPr>
          <p:cNvSpPr txBox="1"/>
          <p:nvPr/>
        </p:nvSpPr>
        <p:spPr>
          <a:xfrm>
            <a:off x="2248930" y="1989438"/>
            <a:ext cx="188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One day, at USD…</a:t>
            </a:r>
          </a:p>
        </p:txBody>
      </p:sp>
    </p:spTree>
    <p:extLst>
      <p:ext uri="{BB962C8B-B14F-4D97-AF65-F5344CB8AC3E}">
        <p14:creationId xmlns:p14="http://schemas.microsoft.com/office/powerpoint/2010/main" val="189685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8472-29AE-E9C0-8500-93DE34FB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1A158-C443-925D-909A-A875B97E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6E7F3B-B4C3-7D60-A74F-2701BA2CC607}"/>
              </a:ext>
            </a:extLst>
          </p:cNvPr>
          <p:cNvCxnSpPr>
            <a:cxnSpLocks/>
          </p:cNvCxnSpPr>
          <p:nvPr/>
        </p:nvCxnSpPr>
        <p:spPr>
          <a:xfrm flipH="1">
            <a:off x="5027645" y="786712"/>
            <a:ext cx="100409" cy="11265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2C94DB-1618-8BE5-190E-F03DD8AE2205}"/>
              </a:ext>
            </a:extLst>
          </p:cNvPr>
          <p:cNvCxnSpPr>
            <a:cxnSpLocks/>
          </p:cNvCxnSpPr>
          <p:nvPr/>
        </p:nvCxnSpPr>
        <p:spPr>
          <a:xfrm flipH="1">
            <a:off x="1892641" y="2900369"/>
            <a:ext cx="121510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1E6C1A-41AF-23C9-CC09-4FB788CF9EEB}"/>
              </a:ext>
            </a:extLst>
          </p:cNvPr>
          <p:cNvSpPr txBox="1"/>
          <p:nvPr/>
        </p:nvSpPr>
        <p:spPr>
          <a:xfrm>
            <a:off x="1892641" y="2640227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12:15 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598598-E252-FC0B-8C2D-780067F9FE42}"/>
              </a:ext>
            </a:extLst>
          </p:cNvPr>
          <p:cNvSpPr txBox="1"/>
          <p:nvPr/>
        </p:nvSpPr>
        <p:spPr>
          <a:xfrm>
            <a:off x="4853235" y="478935"/>
            <a:ext cx="2103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Reading every 15 minutes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3E9445-3A55-367A-899F-118DC7BE1984}"/>
              </a:ext>
            </a:extLst>
          </p:cNvPr>
          <p:cNvCxnSpPr>
            <a:cxnSpLocks/>
          </p:cNvCxnSpPr>
          <p:nvPr/>
        </p:nvCxnSpPr>
        <p:spPr>
          <a:xfrm>
            <a:off x="5134734" y="786712"/>
            <a:ext cx="0" cy="1126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74CD22C-FD42-F5D5-6317-0701C42279B5}"/>
              </a:ext>
            </a:extLst>
          </p:cNvPr>
          <p:cNvCxnSpPr>
            <a:cxnSpLocks/>
          </p:cNvCxnSpPr>
          <p:nvPr/>
        </p:nvCxnSpPr>
        <p:spPr>
          <a:xfrm>
            <a:off x="10639168" y="2422573"/>
            <a:ext cx="87646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007A5E-7887-BB01-C05B-7BF344C70CB8}"/>
              </a:ext>
            </a:extLst>
          </p:cNvPr>
          <p:cNvSpPr txBox="1"/>
          <p:nvPr/>
        </p:nvSpPr>
        <p:spPr>
          <a:xfrm>
            <a:off x="9948941" y="2114796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midnight</a:t>
            </a:r>
          </a:p>
        </p:txBody>
      </p:sp>
    </p:spTree>
    <p:extLst>
      <p:ext uri="{BB962C8B-B14F-4D97-AF65-F5344CB8AC3E}">
        <p14:creationId xmlns:p14="http://schemas.microsoft.com/office/powerpoint/2010/main" val="367817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DC96-665D-F68E-97EE-FB53FDD2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61591-C058-0C99-271E-B94F5AB7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7697E6-8342-22BE-AC8F-43812E40E506}"/>
              </a:ext>
            </a:extLst>
          </p:cNvPr>
          <p:cNvCxnSpPr>
            <a:cxnSpLocks/>
          </p:cNvCxnSpPr>
          <p:nvPr/>
        </p:nvCxnSpPr>
        <p:spPr>
          <a:xfrm flipH="1">
            <a:off x="5027645" y="786712"/>
            <a:ext cx="100409" cy="11265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E221C0-0EF1-7F92-2F90-55CC4834BDCF}"/>
              </a:ext>
            </a:extLst>
          </p:cNvPr>
          <p:cNvSpPr txBox="1"/>
          <p:nvPr/>
        </p:nvSpPr>
        <p:spPr>
          <a:xfrm>
            <a:off x="4853235" y="478935"/>
            <a:ext cx="2103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Reading every 15 minutes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A58FA8-C085-A644-4387-36D73E83A535}"/>
              </a:ext>
            </a:extLst>
          </p:cNvPr>
          <p:cNvCxnSpPr>
            <a:cxnSpLocks/>
          </p:cNvCxnSpPr>
          <p:nvPr/>
        </p:nvCxnSpPr>
        <p:spPr>
          <a:xfrm>
            <a:off x="5134734" y="786712"/>
            <a:ext cx="0" cy="1126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F098BA-E25B-0742-EBBF-CFE94AA2502C}"/>
              </a:ext>
            </a:extLst>
          </p:cNvPr>
          <p:cNvSpPr txBox="1"/>
          <p:nvPr/>
        </p:nvSpPr>
        <p:spPr>
          <a:xfrm>
            <a:off x="7572772" y="933506"/>
            <a:ext cx="2595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Bar height = total demand in kW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AFC6E9-AC68-DC21-C61D-69DC21D99E66}"/>
              </a:ext>
            </a:extLst>
          </p:cNvPr>
          <p:cNvCxnSpPr/>
          <p:nvPr/>
        </p:nvCxnSpPr>
        <p:spPr>
          <a:xfrm flipH="1">
            <a:off x="6388443" y="1087395"/>
            <a:ext cx="120478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459EB6-1FEB-40EB-0139-42AD4B924AD5}"/>
              </a:ext>
            </a:extLst>
          </p:cNvPr>
          <p:cNvCxnSpPr>
            <a:cxnSpLocks/>
          </p:cNvCxnSpPr>
          <p:nvPr/>
        </p:nvCxnSpPr>
        <p:spPr>
          <a:xfrm flipH="1">
            <a:off x="1892641" y="2900369"/>
            <a:ext cx="121510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F172A1-02BB-7E27-F3F5-394C6453E1EC}"/>
              </a:ext>
            </a:extLst>
          </p:cNvPr>
          <p:cNvSpPr txBox="1"/>
          <p:nvPr/>
        </p:nvSpPr>
        <p:spPr>
          <a:xfrm>
            <a:off x="1892641" y="2640227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12:15 am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AC508D-6342-5D96-087E-EFFA1CDD3F32}"/>
              </a:ext>
            </a:extLst>
          </p:cNvPr>
          <p:cNvCxnSpPr>
            <a:cxnSpLocks/>
          </p:cNvCxnSpPr>
          <p:nvPr/>
        </p:nvCxnSpPr>
        <p:spPr>
          <a:xfrm>
            <a:off x="10639168" y="2422573"/>
            <a:ext cx="87646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453B84-21F0-20A3-65AF-0BE8FC7DF638}"/>
              </a:ext>
            </a:extLst>
          </p:cNvPr>
          <p:cNvSpPr txBox="1"/>
          <p:nvPr/>
        </p:nvSpPr>
        <p:spPr>
          <a:xfrm>
            <a:off x="9948941" y="2114796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midnight</a:t>
            </a:r>
          </a:p>
        </p:txBody>
      </p:sp>
    </p:spTree>
    <p:extLst>
      <p:ext uri="{BB962C8B-B14F-4D97-AF65-F5344CB8AC3E}">
        <p14:creationId xmlns:p14="http://schemas.microsoft.com/office/powerpoint/2010/main" val="237847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0311-9C4D-E092-2A83-6DDAB8D9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D611E1-D6F5-D77D-BF01-6C97898D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9C15CB-1F52-3EF8-C14A-F26343F93CDF}"/>
              </a:ext>
            </a:extLst>
          </p:cNvPr>
          <p:cNvCxnSpPr>
            <a:cxnSpLocks/>
          </p:cNvCxnSpPr>
          <p:nvPr/>
        </p:nvCxnSpPr>
        <p:spPr>
          <a:xfrm flipH="1">
            <a:off x="5027645" y="786712"/>
            <a:ext cx="100409" cy="11265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C45E94-8180-B3E0-9A02-72B40D2E0CBC}"/>
              </a:ext>
            </a:extLst>
          </p:cNvPr>
          <p:cNvSpPr txBox="1"/>
          <p:nvPr/>
        </p:nvSpPr>
        <p:spPr>
          <a:xfrm>
            <a:off x="4853235" y="478935"/>
            <a:ext cx="2103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Reading every 15 minutes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932C89-DCC0-8BBD-9225-5839388ED939}"/>
              </a:ext>
            </a:extLst>
          </p:cNvPr>
          <p:cNvCxnSpPr>
            <a:cxnSpLocks/>
          </p:cNvCxnSpPr>
          <p:nvPr/>
        </p:nvCxnSpPr>
        <p:spPr>
          <a:xfrm>
            <a:off x="5134734" y="786712"/>
            <a:ext cx="0" cy="1126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88C855-657C-E8E0-1070-A09B682926F4}"/>
              </a:ext>
            </a:extLst>
          </p:cNvPr>
          <p:cNvSpPr txBox="1"/>
          <p:nvPr/>
        </p:nvSpPr>
        <p:spPr>
          <a:xfrm>
            <a:off x="7572772" y="933506"/>
            <a:ext cx="2595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Bar height = total demand in kW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0DEB4E-6E05-14BB-1CE9-EDC4BB963012}"/>
              </a:ext>
            </a:extLst>
          </p:cNvPr>
          <p:cNvCxnSpPr/>
          <p:nvPr/>
        </p:nvCxnSpPr>
        <p:spPr>
          <a:xfrm flipH="1">
            <a:off x="6388443" y="1087395"/>
            <a:ext cx="120478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B29B5F-CF34-B554-A4B1-BD8B1121BD6F}"/>
              </a:ext>
            </a:extLst>
          </p:cNvPr>
          <p:cNvCxnSpPr>
            <a:cxnSpLocks/>
          </p:cNvCxnSpPr>
          <p:nvPr/>
        </p:nvCxnSpPr>
        <p:spPr>
          <a:xfrm flipH="1">
            <a:off x="1892641" y="2900369"/>
            <a:ext cx="121510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526B115-52C4-7662-70C0-868F94405256}"/>
              </a:ext>
            </a:extLst>
          </p:cNvPr>
          <p:cNvSpPr txBox="1"/>
          <p:nvPr/>
        </p:nvSpPr>
        <p:spPr>
          <a:xfrm>
            <a:off x="1892641" y="2640227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12:15 am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3E4875-B2C8-9AF7-775F-0346653667B1}"/>
              </a:ext>
            </a:extLst>
          </p:cNvPr>
          <p:cNvCxnSpPr>
            <a:cxnSpLocks/>
          </p:cNvCxnSpPr>
          <p:nvPr/>
        </p:nvCxnSpPr>
        <p:spPr>
          <a:xfrm>
            <a:off x="10639168" y="2422573"/>
            <a:ext cx="87646" cy="745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1BF62A-E3E1-FB4E-5A53-A064193CE43D}"/>
              </a:ext>
            </a:extLst>
          </p:cNvPr>
          <p:cNvSpPr txBox="1"/>
          <p:nvPr/>
        </p:nvSpPr>
        <p:spPr>
          <a:xfrm>
            <a:off x="9948941" y="2114796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midnight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59BDC-61AC-42A3-2636-1CAC28E97742}"/>
              </a:ext>
            </a:extLst>
          </p:cNvPr>
          <p:cNvSpPr txBox="1"/>
          <p:nvPr/>
        </p:nvSpPr>
        <p:spPr>
          <a:xfrm>
            <a:off x="5203343" y="3918232"/>
            <a:ext cx="311963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185853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1D39-49DB-7D61-97FD-691D9DDC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EECDDC-0919-2EBC-55D3-43AA1ADE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6982D4-9FBB-1B1E-7A64-A5C4CD544D20}"/>
              </a:ext>
            </a:extLst>
          </p:cNvPr>
          <p:cNvCxnSpPr>
            <a:cxnSpLocks/>
          </p:cNvCxnSpPr>
          <p:nvPr/>
        </p:nvCxnSpPr>
        <p:spPr>
          <a:xfrm flipH="1">
            <a:off x="5027645" y="786712"/>
            <a:ext cx="100409" cy="112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36287E7-3EE1-798E-8E6C-4EF1980399F9}"/>
              </a:ext>
            </a:extLst>
          </p:cNvPr>
          <p:cNvSpPr txBox="1"/>
          <p:nvPr/>
        </p:nvSpPr>
        <p:spPr>
          <a:xfrm>
            <a:off x="4853235" y="478935"/>
            <a:ext cx="2071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Reading every 15 minutes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1E6CBF-5215-4B47-6727-116AFE5890D6}"/>
              </a:ext>
            </a:extLst>
          </p:cNvPr>
          <p:cNvCxnSpPr>
            <a:cxnSpLocks/>
          </p:cNvCxnSpPr>
          <p:nvPr/>
        </p:nvCxnSpPr>
        <p:spPr>
          <a:xfrm>
            <a:off x="5134734" y="786712"/>
            <a:ext cx="0" cy="1126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C4D4B30-A7EA-9E70-347A-1D4AA80F9D3A}"/>
              </a:ext>
            </a:extLst>
          </p:cNvPr>
          <p:cNvCxnSpPr>
            <a:cxnSpLocks/>
          </p:cNvCxnSpPr>
          <p:nvPr/>
        </p:nvCxnSpPr>
        <p:spPr>
          <a:xfrm flipH="1">
            <a:off x="10726814" y="2422573"/>
            <a:ext cx="121510" cy="74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2F684B-03C0-9ABC-283A-845ED1DC4DCD}"/>
              </a:ext>
            </a:extLst>
          </p:cNvPr>
          <p:cNvSpPr txBox="1"/>
          <p:nvPr/>
        </p:nvSpPr>
        <p:spPr>
          <a:xfrm>
            <a:off x="10726814" y="2162431"/>
            <a:ext cx="838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midnight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3DFE1-EF8A-07EF-74EA-8D187AE483D2}"/>
              </a:ext>
            </a:extLst>
          </p:cNvPr>
          <p:cNvSpPr txBox="1"/>
          <p:nvPr/>
        </p:nvSpPr>
        <p:spPr>
          <a:xfrm>
            <a:off x="7572772" y="933506"/>
            <a:ext cx="2548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height = total demand in kW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D2F234-E5B1-B048-6F27-BAEA24BC5F46}"/>
              </a:ext>
            </a:extLst>
          </p:cNvPr>
          <p:cNvCxnSpPr/>
          <p:nvPr/>
        </p:nvCxnSpPr>
        <p:spPr>
          <a:xfrm flipH="1">
            <a:off x="6388443" y="1087395"/>
            <a:ext cx="12047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93BA46-23DB-CBA8-1BA0-FC679052AC9E}"/>
              </a:ext>
            </a:extLst>
          </p:cNvPr>
          <p:cNvSpPr txBox="1"/>
          <p:nvPr/>
        </p:nvSpPr>
        <p:spPr>
          <a:xfrm>
            <a:off x="5203343" y="3918232"/>
            <a:ext cx="311963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9EC540-C0F7-DF60-7A09-8108F8A2DC8E}"/>
              </a:ext>
            </a:extLst>
          </p:cNvPr>
          <p:cNvCxnSpPr>
            <a:cxnSpLocks/>
          </p:cNvCxnSpPr>
          <p:nvPr/>
        </p:nvCxnSpPr>
        <p:spPr>
          <a:xfrm flipH="1">
            <a:off x="1892641" y="2900369"/>
            <a:ext cx="121510" cy="74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F58E6B-4CE0-EAAE-5EF0-37BC23471BB2}"/>
              </a:ext>
            </a:extLst>
          </p:cNvPr>
          <p:cNvSpPr txBox="1"/>
          <p:nvPr/>
        </p:nvSpPr>
        <p:spPr>
          <a:xfrm>
            <a:off x="1892641" y="2640227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12:15 am</a:t>
            </a:r>
          </a:p>
        </p:txBody>
      </p:sp>
    </p:spTree>
    <p:extLst>
      <p:ext uri="{BB962C8B-B14F-4D97-AF65-F5344CB8AC3E}">
        <p14:creationId xmlns:p14="http://schemas.microsoft.com/office/powerpoint/2010/main" val="108600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9267-6F61-B2BB-7799-06A550B1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3EF736-D777-9057-E298-994D4C3B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26" y="246254"/>
            <a:ext cx="9794549" cy="66117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3C1B86-72D6-FAEB-DB38-50CDB89229F4}"/>
              </a:ext>
            </a:extLst>
          </p:cNvPr>
          <p:cNvCxnSpPr>
            <a:cxnSpLocks/>
          </p:cNvCxnSpPr>
          <p:nvPr/>
        </p:nvCxnSpPr>
        <p:spPr>
          <a:xfrm flipH="1">
            <a:off x="5027645" y="786712"/>
            <a:ext cx="100409" cy="112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AFCCFF-9D36-EC0A-FB6B-76F90482CB71}"/>
              </a:ext>
            </a:extLst>
          </p:cNvPr>
          <p:cNvSpPr txBox="1"/>
          <p:nvPr/>
        </p:nvSpPr>
        <p:spPr>
          <a:xfrm>
            <a:off x="4853235" y="478935"/>
            <a:ext cx="2071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Reading every 15 minutes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344336-51E4-B821-437A-3B197E36033C}"/>
              </a:ext>
            </a:extLst>
          </p:cNvPr>
          <p:cNvCxnSpPr>
            <a:cxnSpLocks/>
          </p:cNvCxnSpPr>
          <p:nvPr/>
        </p:nvCxnSpPr>
        <p:spPr>
          <a:xfrm>
            <a:off x="5134734" y="786712"/>
            <a:ext cx="0" cy="1126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404DC87-D6EC-2461-1D5C-802FDD31167D}"/>
              </a:ext>
            </a:extLst>
          </p:cNvPr>
          <p:cNvCxnSpPr>
            <a:cxnSpLocks/>
          </p:cNvCxnSpPr>
          <p:nvPr/>
        </p:nvCxnSpPr>
        <p:spPr>
          <a:xfrm flipH="1">
            <a:off x="10726814" y="2422573"/>
            <a:ext cx="121510" cy="74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048654-D2A2-6027-C3D4-524A2C9832EC}"/>
              </a:ext>
            </a:extLst>
          </p:cNvPr>
          <p:cNvSpPr txBox="1"/>
          <p:nvPr/>
        </p:nvSpPr>
        <p:spPr>
          <a:xfrm>
            <a:off x="10726814" y="2162431"/>
            <a:ext cx="838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midnight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E633A-31CB-51A4-93D2-C40CDE100ADF}"/>
              </a:ext>
            </a:extLst>
          </p:cNvPr>
          <p:cNvSpPr txBox="1"/>
          <p:nvPr/>
        </p:nvSpPr>
        <p:spPr>
          <a:xfrm>
            <a:off x="7572772" y="933506"/>
            <a:ext cx="2548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height = total demand in kW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675FC-1B82-1EBE-8F75-D970AEE4424D}"/>
              </a:ext>
            </a:extLst>
          </p:cNvPr>
          <p:cNvCxnSpPr/>
          <p:nvPr/>
        </p:nvCxnSpPr>
        <p:spPr>
          <a:xfrm flipH="1">
            <a:off x="6388443" y="1087395"/>
            <a:ext cx="12047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CB408C-2ADD-E984-4830-F2659E64F20B}"/>
              </a:ext>
            </a:extLst>
          </p:cNvPr>
          <p:cNvSpPr txBox="1"/>
          <p:nvPr/>
        </p:nvSpPr>
        <p:spPr>
          <a:xfrm>
            <a:off x="5203343" y="3918232"/>
            <a:ext cx="3516604" cy="116955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variables.</a:t>
            </a:r>
          </a:p>
          <a:p>
            <a:endParaRPr lang="en-US" sz="1400" dirty="0"/>
          </a:p>
          <a:p>
            <a:r>
              <a:rPr lang="en-US" sz="1400" dirty="0"/>
              <a:t>One chart like this for each month (12 total). </a:t>
            </a:r>
          </a:p>
          <a:p>
            <a:endParaRPr lang="en-US" sz="1400" dirty="0"/>
          </a:p>
          <a:p>
            <a:r>
              <a:rPr lang="en-US" sz="1400" dirty="0"/>
              <a:t>Consider the prompts in the handout.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57E4FD-8D02-FA71-D992-095E5EBC73A9}"/>
              </a:ext>
            </a:extLst>
          </p:cNvPr>
          <p:cNvCxnSpPr>
            <a:cxnSpLocks/>
          </p:cNvCxnSpPr>
          <p:nvPr/>
        </p:nvCxnSpPr>
        <p:spPr>
          <a:xfrm flipH="1">
            <a:off x="1892641" y="2900369"/>
            <a:ext cx="121510" cy="74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C8839D-B03B-CE88-4F94-D7C61B6794F7}"/>
              </a:ext>
            </a:extLst>
          </p:cNvPr>
          <p:cNvSpPr txBox="1"/>
          <p:nvPr/>
        </p:nvSpPr>
        <p:spPr>
          <a:xfrm>
            <a:off x="1892641" y="2640227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12:15 am</a:t>
            </a:r>
          </a:p>
        </p:txBody>
      </p:sp>
    </p:spTree>
    <p:extLst>
      <p:ext uri="{BB962C8B-B14F-4D97-AF65-F5344CB8AC3E}">
        <p14:creationId xmlns:p14="http://schemas.microsoft.com/office/powerpoint/2010/main" val="292983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286B194-3A04-F8AE-8D22-0D446E6FDA3C}"/>
              </a:ext>
            </a:extLst>
          </p:cNvPr>
          <p:cNvGrpSpPr/>
          <p:nvPr/>
        </p:nvGrpSpPr>
        <p:grpSpPr>
          <a:xfrm>
            <a:off x="951465" y="-4"/>
            <a:ext cx="1902944" cy="6858000"/>
            <a:chOff x="1161533" y="-4"/>
            <a:chExt cx="1902944" cy="6858000"/>
          </a:xfrm>
        </p:grpSpPr>
        <p:pic>
          <p:nvPicPr>
            <p:cNvPr id="29" name="Picture 2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76E93579-A8BC-1A4F-200A-D0DF8AA113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39" t="4144" r="81960"/>
            <a:stretch/>
          </p:blipFill>
          <p:spPr>
            <a:xfrm>
              <a:off x="1482810" y="284201"/>
              <a:ext cx="926757" cy="6573795"/>
            </a:xfrm>
            <a:prstGeom prst="rect">
              <a:avLst/>
            </a:prstGeom>
          </p:spPr>
        </p:pic>
        <p:pic>
          <p:nvPicPr>
            <p:cNvPr id="30" name="Picture 29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0FE88CA-660E-6ADA-B4BC-E0C1E5346B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22" r="408"/>
            <a:stretch/>
          </p:blipFill>
          <p:spPr>
            <a:xfrm>
              <a:off x="2421925" y="-4"/>
              <a:ext cx="642552" cy="6858000"/>
            </a:xfrm>
            <a:prstGeom prst="rect">
              <a:avLst/>
            </a:prstGeom>
          </p:spPr>
        </p:pic>
        <p:pic>
          <p:nvPicPr>
            <p:cNvPr id="31" name="Picture 30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EE29E0B6-4D4E-27A2-9C0E-01A610851D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" r="96942"/>
            <a:stretch/>
          </p:blipFill>
          <p:spPr>
            <a:xfrm>
              <a:off x="1161533" y="-4"/>
              <a:ext cx="339809" cy="6858000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CDC0D0D-6132-75FB-3BDB-29720405A161}"/>
              </a:ext>
            </a:extLst>
          </p:cNvPr>
          <p:cNvSpPr txBox="1"/>
          <p:nvPr/>
        </p:nvSpPr>
        <p:spPr>
          <a:xfrm>
            <a:off x="5203343" y="3918232"/>
            <a:ext cx="31677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variables. </a:t>
            </a:r>
          </a:p>
        </p:txBody>
      </p:sp>
    </p:spTree>
    <p:extLst>
      <p:ext uri="{BB962C8B-B14F-4D97-AF65-F5344CB8AC3E}">
        <p14:creationId xmlns:p14="http://schemas.microsoft.com/office/powerpoint/2010/main" val="130456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1FA6-76C8-F592-4695-1294D37B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1520513-19E9-2B2D-21A4-437D39D19D6F}"/>
              </a:ext>
            </a:extLst>
          </p:cNvPr>
          <p:cNvGrpSpPr/>
          <p:nvPr/>
        </p:nvGrpSpPr>
        <p:grpSpPr>
          <a:xfrm>
            <a:off x="951465" y="-4"/>
            <a:ext cx="1902944" cy="6858000"/>
            <a:chOff x="1161533" y="-4"/>
            <a:chExt cx="1902944" cy="6858000"/>
          </a:xfrm>
        </p:grpSpPr>
        <p:pic>
          <p:nvPicPr>
            <p:cNvPr id="29" name="Picture 2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7F12A22-E196-80C5-0965-ABADBA08DD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39" t="4144" r="81960"/>
            <a:stretch/>
          </p:blipFill>
          <p:spPr>
            <a:xfrm>
              <a:off x="1482810" y="284201"/>
              <a:ext cx="926757" cy="6573795"/>
            </a:xfrm>
            <a:prstGeom prst="rect">
              <a:avLst/>
            </a:prstGeom>
          </p:spPr>
        </p:pic>
        <p:pic>
          <p:nvPicPr>
            <p:cNvPr id="30" name="Picture 29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AAE875E6-3891-D362-0547-A1D2D5C5A2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22" r="408"/>
            <a:stretch/>
          </p:blipFill>
          <p:spPr>
            <a:xfrm>
              <a:off x="2421925" y="-4"/>
              <a:ext cx="642552" cy="6858000"/>
            </a:xfrm>
            <a:prstGeom prst="rect">
              <a:avLst/>
            </a:prstGeom>
          </p:spPr>
        </p:pic>
        <p:pic>
          <p:nvPicPr>
            <p:cNvPr id="31" name="Picture 30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836B825B-B7A5-5EED-24A9-06BF3884CC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" r="96942"/>
            <a:stretch/>
          </p:blipFill>
          <p:spPr>
            <a:xfrm>
              <a:off x="1161533" y="-4"/>
              <a:ext cx="339809" cy="6858000"/>
            </a:xfrm>
            <a:prstGeom prst="rect">
              <a:avLst/>
            </a:prstGeom>
          </p:spPr>
        </p:pic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8BDDAB-11E4-56C9-A475-E75935E55598}"/>
              </a:ext>
            </a:extLst>
          </p:cNvPr>
          <p:cNvCxnSpPr>
            <a:cxnSpLocks/>
          </p:cNvCxnSpPr>
          <p:nvPr/>
        </p:nvCxnSpPr>
        <p:spPr>
          <a:xfrm>
            <a:off x="1575483" y="5240182"/>
            <a:ext cx="0" cy="85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F3C3DDC-CF94-7A26-AE2A-8539314389E6}"/>
              </a:ext>
            </a:extLst>
          </p:cNvPr>
          <p:cNvSpPr txBox="1"/>
          <p:nvPr/>
        </p:nvSpPr>
        <p:spPr>
          <a:xfrm>
            <a:off x="1459821" y="4981253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7:00 am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5A66B4-9912-B4D3-3EF3-25455CAB369A}"/>
              </a:ext>
            </a:extLst>
          </p:cNvPr>
          <p:cNvCxnSpPr>
            <a:cxnSpLocks/>
          </p:cNvCxnSpPr>
          <p:nvPr/>
        </p:nvCxnSpPr>
        <p:spPr>
          <a:xfrm flipH="1">
            <a:off x="1960006" y="5564030"/>
            <a:ext cx="232540" cy="697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8F97E87-9358-126C-38DD-9CBB48A0643D}"/>
              </a:ext>
            </a:extLst>
          </p:cNvPr>
          <p:cNvSpPr txBox="1"/>
          <p:nvPr/>
        </p:nvSpPr>
        <p:spPr>
          <a:xfrm>
            <a:off x="2128681" y="5333426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7:00 pm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178979-628D-7EAB-18EC-C8B3AF6D6EB1}"/>
              </a:ext>
            </a:extLst>
          </p:cNvPr>
          <p:cNvCxnSpPr>
            <a:cxnSpLocks/>
          </p:cNvCxnSpPr>
          <p:nvPr/>
        </p:nvCxnSpPr>
        <p:spPr>
          <a:xfrm flipH="1">
            <a:off x="2138744" y="6116595"/>
            <a:ext cx="194505" cy="24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08E0C92-5CF9-8A31-87F9-3BF0AC0A5AB0}"/>
              </a:ext>
            </a:extLst>
          </p:cNvPr>
          <p:cNvSpPr txBox="1"/>
          <p:nvPr/>
        </p:nvSpPr>
        <p:spPr>
          <a:xfrm>
            <a:off x="2257042" y="5877314"/>
            <a:ext cx="838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midnight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0249D-CFF5-6EA3-BFC6-D77DB6A22014}"/>
              </a:ext>
            </a:extLst>
          </p:cNvPr>
          <p:cNvSpPr txBox="1"/>
          <p:nvPr/>
        </p:nvSpPr>
        <p:spPr>
          <a:xfrm>
            <a:off x="5203343" y="3918232"/>
            <a:ext cx="5136534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We have four time-dependent variables</a:t>
            </a:r>
          </a:p>
          <a:p>
            <a:endParaRPr lang="en-US" sz="1400" dirty="0"/>
          </a:p>
          <a:p>
            <a:r>
              <a:rPr lang="en-US" sz="1400" dirty="0"/>
              <a:t>“7” is 7 am</a:t>
            </a:r>
          </a:p>
          <a:p>
            <a:r>
              <a:rPr lang="en-US" sz="1400" dirty="0"/>
              <a:t>“19” is 7 pm</a:t>
            </a:r>
          </a:p>
          <a:p>
            <a:endParaRPr lang="en-US" sz="1400" dirty="0"/>
          </a:p>
          <a:p>
            <a:r>
              <a:rPr lang="en-US" sz="1400" dirty="0"/>
              <a:t>The report appendix has one of these charts for each billing month. </a:t>
            </a:r>
          </a:p>
        </p:txBody>
      </p:sp>
    </p:spTree>
    <p:extLst>
      <p:ext uri="{BB962C8B-B14F-4D97-AF65-F5344CB8AC3E}">
        <p14:creationId xmlns:p14="http://schemas.microsoft.com/office/powerpoint/2010/main" val="250651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5BB5-8408-2A46-06BD-03A084F2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0E9D3C0-F146-9EE8-1C7D-140C572C9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6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1AB2-8AF1-F571-F332-C59D54EB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1B938-AF71-4623-5B8A-E899284DF82B}"/>
              </a:ext>
            </a:extLst>
          </p:cNvPr>
          <p:cNvSpPr txBox="1"/>
          <p:nvPr/>
        </p:nvSpPr>
        <p:spPr>
          <a:xfrm>
            <a:off x="5190987" y="3275111"/>
            <a:ext cx="31609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Respond to the prompts in the handout. 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B57ED0C-8221-EEE6-31C7-E740E73EB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7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42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B931-66E6-0F52-6FE1-E7A7383A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962D-9EEB-417B-5C0C-61487DAED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can be organized in a different way</a:t>
            </a:r>
          </a:p>
        </p:txBody>
      </p:sp>
    </p:spTree>
    <p:extLst>
      <p:ext uri="{BB962C8B-B14F-4D97-AF65-F5344CB8AC3E}">
        <p14:creationId xmlns:p14="http://schemas.microsoft.com/office/powerpoint/2010/main" val="284580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0071-8400-C650-F87D-A23B397B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A3DB4DB-D0F5-CA5F-7057-E7D1D6761B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4" b="74865"/>
          <a:stretch/>
        </p:blipFill>
        <p:spPr>
          <a:xfrm>
            <a:off x="0" y="259492"/>
            <a:ext cx="12192000" cy="14642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30A4CB9-724D-CD7E-4AF2-92E89E0FA3BA}"/>
              </a:ext>
            </a:extLst>
          </p:cNvPr>
          <p:cNvSpPr/>
          <p:nvPr/>
        </p:nvSpPr>
        <p:spPr>
          <a:xfrm>
            <a:off x="316127" y="98854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103FF2-3257-0342-00CC-D173AFC14329}"/>
              </a:ext>
            </a:extLst>
          </p:cNvPr>
          <p:cNvSpPr/>
          <p:nvPr/>
        </p:nvSpPr>
        <p:spPr>
          <a:xfrm>
            <a:off x="1239794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D32430-1BF0-A905-A4AB-2FD7DA0893D2}"/>
              </a:ext>
            </a:extLst>
          </p:cNvPr>
          <p:cNvSpPr/>
          <p:nvPr/>
        </p:nvSpPr>
        <p:spPr>
          <a:xfrm>
            <a:off x="2181995" y="928818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ED4FE7-D686-1A12-8F1C-E8C627B41C10}"/>
              </a:ext>
            </a:extLst>
          </p:cNvPr>
          <p:cNvSpPr/>
          <p:nvPr/>
        </p:nvSpPr>
        <p:spPr>
          <a:xfrm>
            <a:off x="3105663" y="949412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5600D3-6FB9-5DF4-52F3-3C109ED00935}"/>
              </a:ext>
            </a:extLst>
          </p:cNvPr>
          <p:cNvSpPr/>
          <p:nvPr/>
        </p:nvSpPr>
        <p:spPr>
          <a:xfrm>
            <a:off x="4029331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A13D63-0761-7076-1486-96B5873B8DBF}"/>
              </a:ext>
            </a:extLst>
          </p:cNvPr>
          <p:cNvSpPr/>
          <p:nvPr/>
        </p:nvSpPr>
        <p:spPr>
          <a:xfrm>
            <a:off x="4981828" y="1016344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3B814D-3823-AA55-1D51-35F973FA42E4}"/>
              </a:ext>
            </a:extLst>
          </p:cNvPr>
          <p:cNvSpPr/>
          <p:nvPr/>
        </p:nvSpPr>
        <p:spPr>
          <a:xfrm>
            <a:off x="5895200" y="105238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8433DB-4660-628A-12F0-7A5DA22056B3}"/>
              </a:ext>
            </a:extLst>
          </p:cNvPr>
          <p:cNvSpPr/>
          <p:nvPr/>
        </p:nvSpPr>
        <p:spPr>
          <a:xfrm>
            <a:off x="6853878" y="995749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989380-ACB9-D51B-AF1B-CF6C62CC4DD2}"/>
              </a:ext>
            </a:extLst>
          </p:cNvPr>
          <p:cNvSpPr/>
          <p:nvPr/>
        </p:nvSpPr>
        <p:spPr>
          <a:xfrm>
            <a:off x="7791962" y="100501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36F8EF-67BC-A2C6-1725-5F2300640545}"/>
              </a:ext>
            </a:extLst>
          </p:cNvPr>
          <p:cNvSpPr/>
          <p:nvPr/>
        </p:nvSpPr>
        <p:spPr>
          <a:xfrm>
            <a:off x="8699152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5C31EC-4496-B03B-EEA7-BA0B97F34D12}"/>
              </a:ext>
            </a:extLst>
          </p:cNvPr>
          <p:cNvSpPr/>
          <p:nvPr/>
        </p:nvSpPr>
        <p:spPr>
          <a:xfrm>
            <a:off x="9637236" y="101222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C1F329-6118-6713-2880-1B319AF4CA31}"/>
              </a:ext>
            </a:extLst>
          </p:cNvPr>
          <p:cNvSpPr/>
          <p:nvPr/>
        </p:nvSpPr>
        <p:spPr>
          <a:xfrm>
            <a:off x="10575320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DD210-BA93-BD0A-903F-0392E57A3009}"/>
              </a:ext>
            </a:extLst>
          </p:cNvPr>
          <p:cNvSpPr txBox="1"/>
          <p:nvPr/>
        </p:nvSpPr>
        <p:spPr>
          <a:xfrm>
            <a:off x="2466776" y="3118564"/>
            <a:ext cx="185809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First hour only, </a:t>
            </a:r>
          </a:p>
          <a:p>
            <a:r>
              <a:rPr lang="en-US" sz="1400" dirty="0"/>
              <a:t>every month, </a:t>
            </a:r>
          </a:p>
          <a:p>
            <a:r>
              <a:rPr lang="en-US" sz="1400" dirty="0"/>
              <a:t>average of the</a:t>
            </a:r>
          </a:p>
          <a:p>
            <a:r>
              <a:rPr lang="en-US" sz="1400" dirty="0"/>
              <a:t>readings in that hour</a:t>
            </a:r>
          </a:p>
        </p:txBody>
      </p:sp>
    </p:spTree>
    <p:extLst>
      <p:ext uri="{BB962C8B-B14F-4D97-AF65-F5344CB8AC3E}">
        <p14:creationId xmlns:p14="http://schemas.microsoft.com/office/powerpoint/2010/main" val="232701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C645-B329-A760-8C01-4A4FD7C8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04694F-3AF6-8086-0811-93F0D0A198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4" b="74865"/>
          <a:stretch/>
        </p:blipFill>
        <p:spPr>
          <a:xfrm>
            <a:off x="0" y="290384"/>
            <a:ext cx="12192000" cy="143338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43C09E8-1113-0BCE-B55E-D083CA3EA02E}"/>
              </a:ext>
            </a:extLst>
          </p:cNvPr>
          <p:cNvSpPr/>
          <p:nvPr/>
        </p:nvSpPr>
        <p:spPr>
          <a:xfrm>
            <a:off x="316127" y="98854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981C28-AC44-24A5-1D41-CAFAEA5E534D}"/>
              </a:ext>
            </a:extLst>
          </p:cNvPr>
          <p:cNvSpPr/>
          <p:nvPr/>
        </p:nvSpPr>
        <p:spPr>
          <a:xfrm>
            <a:off x="1239794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8787EA-08F1-3137-B0A5-8C063E6DA47C}"/>
              </a:ext>
            </a:extLst>
          </p:cNvPr>
          <p:cNvSpPr/>
          <p:nvPr/>
        </p:nvSpPr>
        <p:spPr>
          <a:xfrm>
            <a:off x="2181995" y="928818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5502C9-F2B8-A13C-1BDC-1FA365B15CAF}"/>
              </a:ext>
            </a:extLst>
          </p:cNvPr>
          <p:cNvSpPr/>
          <p:nvPr/>
        </p:nvSpPr>
        <p:spPr>
          <a:xfrm>
            <a:off x="3105663" y="949412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E048BA-B60A-70B6-265A-D0257B610985}"/>
              </a:ext>
            </a:extLst>
          </p:cNvPr>
          <p:cNvSpPr/>
          <p:nvPr/>
        </p:nvSpPr>
        <p:spPr>
          <a:xfrm>
            <a:off x="4029331" y="986481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8B4ED3-6F6A-24F9-B539-DBA5840F091B}"/>
              </a:ext>
            </a:extLst>
          </p:cNvPr>
          <p:cNvSpPr/>
          <p:nvPr/>
        </p:nvSpPr>
        <p:spPr>
          <a:xfrm>
            <a:off x="4981828" y="1016344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088856-B83A-488A-0F41-872FDE3FD254}"/>
              </a:ext>
            </a:extLst>
          </p:cNvPr>
          <p:cNvSpPr/>
          <p:nvPr/>
        </p:nvSpPr>
        <p:spPr>
          <a:xfrm>
            <a:off x="5895200" y="105238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D1804A-3553-0538-DB53-37F1D64FF02A}"/>
              </a:ext>
            </a:extLst>
          </p:cNvPr>
          <p:cNvSpPr/>
          <p:nvPr/>
        </p:nvSpPr>
        <p:spPr>
          <a:xfrm>
            <a:off x="6853878" y="995749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7B0A3F-8994-A1AD-E326-918AA4D959D1}"/>
              </a:ext>
            </a:extLst>
          </p:cNvPr>
          <p:cNvSpPr/>
          <p:nvPr/>
        </p:nvSpPr>
        <p:spPr>
          <a:xfrm>
            <a:off x="7791962" y="100501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7E30D7-2B34-70BA-E782-50EF6CACD6E0}"/>
              </a:ext>
            </a:extLst>
          </p:cNvPr>
          <p:cNvSpPr/>
          <p:nvPr/>
        </p:nvSpPr>
        <p:spPr>
          <a:xfrm>
            <a:off x="8699152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C56EC5-DABA-E8AB-CD24-C81A2D9060DD}"/>
              </a:ext>
            </a:extLst>
          </p:cNvPr>
          <p:cNvSpPr/>
          <p:nvPr/>
        </p:nvSpPr>
        <p:spPr>
          <a:xfrm>
            <a:off x="9637236" y="1012225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E4F662-3A48-05EB-55AD-96CEF1B2CFD8}"/>
              </a:ext>
            </a:extLst>
          </p:cNvPr>
          <p:cNvSpPr/>
          <p:nvPr/>
        </p:nvSpPr>
        <p:spPr>
          <a:xfrm>
            <a:off x="10575320" y="1032820"/>
            <a:ext cx="166816" cy="16681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C75CC-8925-337D-A455-DD56C3FC52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72"/>
          <a:stretch/>
        </p:blipFill>
        <p:spPr>
          <a:xfrm>
            <a:off x="5462499" y="2508422"/>
            <a:ext cx="1267002" cy="19589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9CB431-5ADA-88C4-4A38-D86B054FF819}"/>
              </a:ext>
            </a:extLst>
          </p:cNvPr>
          <p:cNvSpPr txBox="1"/>
          <p:nvPr/>
        </p:nvSpPr>
        <p:spPr>
          <a:xfrm>
            <a:off x="5895200" y="4467370"/>
            <a:ext cx="20384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Hour “1”</a:t>
            </a:r>
          </a:p>
          <a:p>
            <a:r>
              <a:rPr lang="en-US" sz="1400" dirty="0"/>
              <a:t>July 2018 thru June 2019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443EE-A236-1F44-8AC1-287141312CB4}"/>
              </a:ext>
            </a:extLst>
          </p:cNvPr>
          <p:cNvSpPr/>
          <p:nvPr/>
        </p:nvSpPr>
        <p:spPr>
          <a:xfrm>
            <a:off x="6326659" y="3249827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0DD7FC-D852-88E5-CC84-0BB46F01508D}"/>
              </a:ext>
            </a:extLst>
          </p:cNvPr>
          <p:cNvSpPr/>
          <p:nvPr/>
        </p:nvSpPr>
        <p:spPr>
          <a:xfrm>
            <a:off x="5975519" y="3560668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D66DB3-73E3-635B-1B47-6B389B66576D}"/>
              </a:ext>
            </a:extLst>
          </p:cNvPr>
          <p:cNvCxnSpPr>
            <a:cxnSpLocks/>
          </p:cNvCxnSpPr>
          <p:nvPr/>
        </p:nvCxnSpPr>
        <p:spPr>
          <a:xfrm flipH="1">
            <a:off x="6044423" y="2177252"/>
            <a:ext cx="555693" cy="1267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BB7AF5-283A-B4EF-B732-B1C5542964C8}"/>
              </a:ext>
            </a:extLst>
          </p:cNvPr>
          <p:cNvSpPr txBox="1"/>
          <p:nvPr/>
        </p:nvSpPr>
        <p:spPr>
          <a:xfrm>
            <a:off x="6420906" y="1895016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July 2018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2F16E2-840B-7519-1D89-9DCFEF31F2C2}"/>
              </a:ext>
            </a:extLst>
          </p:cNvPr>
          <p:cNvCxnSpPr>
            <a:cxnSpLocks/>
          </p:cNvCxnSpPr>
          <p:nvPr/>
        </p:nvCxnSpPr>
        <p:spPr>
          <a:xfrm flipH="1">
            <a:off x="6635561" y="3118564"/>
            <a:ext cx="957666" cy="449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68F1936-BCC9-01BE-A6B4-11CD751A30F5}"/>
              </a:ext>
            </a:extLst>
          </p:cNvPr>
          <p:cNvSpPr txBox="1"/>
          <p:nvPr/>
        </p:nvSpPr>
        <p:spPr>
          <a:xfrm>
            <a:off x="7539464" y="2923145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June 2019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06F708A-41AD-0035-95EA-B204FFF47F3B}"/>
              </a:ext>
            </a:extLst>
          </p:cNvPr>
          <p:cNvCxnSpPr>
            <a:cxnSpLocks/>
          </p:cNvCxnSpPr>
          <p:nvPr/>
        </p:nvCxnSpPr>
        <p:spPr>
          <a:xfrm flipH="1">
            <a:off x="6353759" y="2567184"/>
            <a:ext cx="828279" cy="935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D769C2-0D2C-C31E-288C-464060D38D6F}"/>
              </a:ext>
            </a:extLst>
          </p:cNvPr>
          <p:cNvSpPr txBox="1"/>
          <p:nvPr/>
        </p:nvSpPr>
        <p:spPr>
          <a:xfrm>
            <a:off x="7076035" y="2319612"/>
            <a:ext cx="1195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January 2019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7E959E-89D4-4AC5-5BCB-D2F12D4F5EFB}"/>
              </a:ext>
            </a:extLst>
          </p:cNvPr>
          <p:cNvSpPr txBox="1"/>
          <p:nvPr/>
        </p:nvSpPr>
        <p:spPr>
          <a:xfrm>
            <a:off x="2466776" y="3118564"/>
            <a:ext cx="1858090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First hour only, </a:t>
            </a:r>
          </a:p>
          <a:p>
            <a:r>
              <a:rPr lang="en-US" sz="1400" dirty="0"/>
              <a:t>every month, </a:t>
            </a:r>
          </a:p>
          <a:p>
            <a:r>
              <a:rPr lang="en-US" sz="1400" dirty="0"/>
              <a:t>average of the</a:t>
            </a:r>
          </a:p>
          <a:p>
            <a:r>
              <a:rPr lang="en-US" sz="1400" dirty="0"/>
              <a:t>readings in that hour.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Plot the sequence of monthly values for this one hour</a:t>
            </a:r>
          </a:p>
        </p:txBody>
      </p:sp>
    </p:spTree>
    <p:extLst>
      <p:ext uri="{BB962C8B-B14F-4D97-AF65-F5344CB8AC3E}">
        <p14:creationId xmlns:p14="http://schemas.microsoft.com/office/powerpoint/2010/main" val="190646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8574-3CFF-3904-1EBA-3AFBC4EE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9FE0E3C-7095-7AB2-C2D9-5969762652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31" t="5673" r="5103" b="2144"/>
          <a:stretch>
            <a:fillRect/>
          </a:stretch>
        </p:blipFill>
        <p:spPr>
          <a:xfrm>
            <a:off x="802914" y="3096235"/>
            <a:ext cx="968825" cy="19144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59934E-B535-445B-800E-6F04031F11EF}"/>
              </a:ext>
            </a:extLst>
          </p:cNvPr>
          <p:cNvSpPr txBox="1"/>
          <p:nvPr/>
        </p:nvSpPr>
        <p:spPr>
          <a:xfrm>
            <a:off x="1085501" y="5318436"/>
            <a:ext cx="20384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Hour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ECFA67-D100-8EE7-2271-104BA3B2AD4A}"/>
              </a:ext>
            </a:extLst>
          </p:cNvPr>
          <p:cNvSpPr/>
          <p:nvPr/>
        </p:nvSpPr>
        <p:spPr>
          <a:xfrm>
            <a:off x="1433552" y="3837640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03B27E-463E-CC7B-9A2C-A23768D09975}"/>
              </a:ext>
            </a:extLst>
          </p:cNvPr>
          <p:cNvSpPr/>
          <p:nvPr/>
        </p:nvSpPr>
        <p:spPr>
          <a:xfrm>
            <a:off x="1082412" y="4148481"/>
            <a:ext cx="358346" cy="259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446B1B-B660-4D3A-8449-E858A8D5BF60}"/>
              </a:ext>
            </a:extLst>
          </p:cNvPr>
          <p:cNvCxnSpPr>
            <a:cxnSpLocks/>
          </p:cNvCxnSpPr>
          <p:nvPr/>
        </p:nvCxnSpPr>
        <p:spPr>
          <a:xfrm flipH="1">
            <a:off x="1151316" y="2974081"/>
            <a:ext cx="258170" cy="1058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9F9DED-0417-6733-4088-907CFB7C0CCB}"/>
              </a:ext>
            </a:extLst>
          </p:cNvPr>
          <p:cNvSpPr txBox="1"/>
          <p:nvPr/>
        </p:nvSpPr>
        <p:spPr>
          <a:xfrm>
            <a:off x="1238764" y="268508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July 2018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9880E2-B677-AC2B-7A6D-C36A3ABAB61D}"/>
              </a:ext>
            </a:extLst>
          </p:cNvPr>
          <p:cNvCxnSpPr>
            <a:cxnSpLocks/>
          </p:cNvCxnSpPr>
          <p:nvPr/>
        </p:nvCxnSpPr>
        <p:spPr>
          <a:xfrm flipH="1">
            <a:off x="1742454" y="3598290"/>
            <a:ext cx="362253" cy="557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73FD6B-3CC7-6966-56A4-B4EF51CD720F}"/>
              </a:ext>
            </a:extLst>
          </p:cNvPr>
          <p:cNvSpPr txBox="1"/>
          <p:nvPr/>
        </p:nvSpPr>
        <p:spPr>
          <a:xfrm>
            <a:off x="2073435" y="3290513"/>
            <a:ext cx="1200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June 2019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D503E9-84B5-D14F-265C-54CC349774C7}"/>
              </a:ext>
            </a:extLst>
          </p:cNvPr>
          <p:cNvSpPr txBox="1"/>
          <p:nvPr/>
        </p:nvSpPr>
        <p:spPr>
          <a:xfrm>
            <a:off x="2816958" y="5318436"/>
            <a:ext cx="2013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… Hour 2 … Hour 3 … etc.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2B141B9-520D-F392-D7AE-B918CDA28DBC}"/>
              </a:ext>
            </a:extLst>
          </p:cNvPr>
          <p:cNvCxnSpPr/>
          <p:nvPr/>
        </p:nvCxnSpPr>
        <p:spPr>
          <a:xfrm>
            <a:off x="7884642" y="27438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7D3C73E-6142-0079-9B21-FA56FA85C9B5}"/>
              </a:ext>
            </a:extLst>
          </p:cNvPr>
          <p:cNvCxnSpPr>
            <a:cxnSpLocks/>
          </p:cNvCxnSpPr>
          <p:nvPr/>
        </p:nvCxnSpPr>
        <p:spPr>
          <a:xfrm>
            <a:off x="1079571" y="5010659"/>
            <a:ext cx="0" cy="214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B1FA878-A416-8BAA-FBA9-9FCC19D31FBD}"/>
              </a:ext>
            </a:extLst>
          </p:cNvPr>
          <p:cNvCxnSpPr>
            <a:cxnSpLocks/>
          </p:cNvCxnSpPr>
          <p:nvPr/>
        </p:nvCxnSpPr>
        <p:spPr>
          <a:xfrm>
            <a:off x="1740891" y="5010659"/>
            <a:ext cx="0" cy="214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094C81A-4663-A22C-9F9C-CA7D9A27DEAE}"/>
              </a:ext>
            </a:extLst>
          </p:cNvPr>
          <p:cNvCxnSpPr>
            <a:cxnSpLocks/>
          </p:cNvCxnSpPr>
          <p:nvPr/>
        </p:nvCxnSpPr>
        <p:spPr>
          <a:xfrm flipH="1">
            <a:off x="1740891" y="5120793"/>
            <a:ext cx="43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8D510B-5D5A-86DC-E3C0-D09A63B221C7}"/>
              </a:ext>
            </a:extLst>
          </p:cNvPr>
          <p:cNvCxnSpPr>
            <a:cxnSpLocks/>
          </p:cNvCxnSpPr>
          <p:nvPr/>
        </p:nvCxnSpPr>
        <p:spPr>
          <a:xfrm>
            <a:off x="648553" y="5120793"/>
            <a:ext cx="43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3D3D4FF-6AE6-EB75-2CD8-D3BC104A60FC}"/>
              </a:ext>
            </a:extLst>
          </p:cNvPr>
          <p:cNvSpPr txBox="1"/>
          <p:nvPr/>
        </p:nvSpPr>
        <p:spPr>
          <a:xfrm>
            <a:off x="2113024" y="4942968"/>
            <a:ext cx="1200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year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B83E3C5-5F15-66BB-94EA-1909C365B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831"/>
          <a:stretch>
            <a:fillRect/>
          </a:stretch>
        </p:blipFill>
        <p:spPr>
          <a:xfrm>
            <a:off x="674422" y="2954447"/>
            <a:ext cx="347079" cy="36576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F1E86D4-4C86-0557-2FC9-0CA99951D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378"/>
          <a:stretch>
            <a:fillRect/>
          </a:stretch>
        </p:blipFill>
        <p:spPr>
          <a:xfrm>
            <a:off x="6096000" y="2701912"/>
            <a:ext cx="1833461" cy="201168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FFF7E8B2-6354-30FB-3D9B-0C99AF6DC9B0}"/>
              </a:ext>
            </a:extLst>
          </p:cNvPr>
          <p:cNvSpPr/>
          <p:nvPr/>
        </p:nvSpPr>
        <p:spPr>
          <a:xfrm>
            <a:off x="6517164" y="2586771"/>
            <a:ext cx="575616" cy="195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A641256-7AC2-1AE5-C6E2-A2A75C7CBF61}"/>
              </a:ext>
            </a:extLst>
          </p:cNvPr>
          <p:cNvCxnSpPr>
            <a:cxnSpLocks/>
          </p:cNvCxnSpPr>
          <p:nvPr/>
        </p:nvCxnSpPr>
        <p:spPr>
          <a:xfrm>
            <a:off x="6524526" y="4761248"/>
            <a:ext cx="0" cy="214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9BC2325-4F05-D8D3-E268-2919E8EBE636}"/>
              </a:ext>
            </a:extLst>
          </p:cNvPr>
          <p:cNvCxnSpPr>
            <a:cxnSpLocks/>
          </p:cNvCxnSpPr>
          <p:nvPr/>
        </p:nvCxnSpPr>
        <p:spPr>
          <a:xfrm>
            <a:off x="7785150" y="4736086"/>
            <a:ext cx="0" cy="214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E26E21-CA1C-7390-EEFD-CDAB866B7073}"/>
              </a:ext>
            </a:extLst>
          </p:cNvPr>
          <p:cNvCxnSpPr>
            <a:cxnSpLocks/>
          </p:cNvCxnSpPr>
          <p:nvPr/>
        </p:nvCxnSpPr>
        <p:spPr>
          <a:xfrm flipH="1">
            <a:off x="7785150" y="4846220"/>
            <a:ext cx="43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687127E-90D3-795E-DBD1-468807345C67}"/>
              </a:ext>
            </a:extLst>
          </p:cNvPr>
          <p:cNvCxnSpPr>
            <a:cxnSpLocks/>
          </p:cNvCxnSpPr>
          <p:nvPr/>
        </p:nvCxnSpPr>
        <p:spPr>
          <a:xfrm>
            <a:off x="6093508" y="4871382"/>
            <a:ext cx="43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79A173C-3356-C4B8-4FD0-219FEA2C3C83}"/>
              </a:ext>
            </a:extLst>
          </p:cNvPr>
          <p:cNvSpPr txBox="1"/>
          <p:nvPr/>
        </p:nvSpPr>
        <p:spPr>
          <a:xfrm>
            <a:off x="6759085" y="4708236"/>
            <a:ext cx="1200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day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9D3415C-C34D-3272-ABBE-387BECA28552}"/>
              </a:ext>
            </a:extLst>
          </p:cNvPr>
          <p:cNvCxnSpPr>
            <a:cxnSpLocks/>
          </p:cNvCxnSpPr>
          <p:nvPr/>
        </p:nvCxnSpPr>
        <p:spPr>
          <a:xfrm flipH="1">
            <a:off x="6559232" y="2588585"/>
            <a:ext cx="258170" cy="1058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6696F93-6A8A-6927-7F31-6EA1535DCDE1}"/>
              </a:ext>
            </a:extLst>
          </p:cNvPr>
          <p:cNvSpPr txBox="1"/>
          <p:nvPr/>
        </p:nvSpPr>
        <p:spPr>
          <a:xfrm>
            <a:off x="6680016" y="2333699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0015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688D73-C819-2390-4B44-DE57E84E27AC}"/>
              </a:ext>
            </a:extLst>
          </p:cNvPr>
          <p:cNvCxnSpPr>
            <a:cxnSpLocks/>
          </p:cNvCxnSpPr>
          <p:nvPr/>
        </p:nvCxnSpPr>
        <p:spPr>
          <a:xfrm flipH="1">
            <a:off x="7834823" y="3112717"/>
            <a:ext cx="362253" cy="557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ABB4652-6D9E-195A-4408-9A6632FCB2EB}"/>
              </a:ext>
            </a:extLst>
          </p:cNvPr>
          <p:cNvSpPr txBox="1"/>
          <p:nvPr/>
        </p:nvSpPr>
        <p:spPr>
          <a:xfrm>
            <a:off x="8133430" y="2869051"/>
            <a:ext cx="1200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2400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5DF2DE-A969-F9EC-7629-9CC71EAE7D1E}"/>
              </a:ext>
            </a:extLst>
          </p:cNvPr>
          <p:cNvSpPr txBox="1"/>
          <p:nvPr/>
        </p:nvSpPr>
        <p:spPr>
          <a:xfrm>
            <a:off x="6817402" y="5250744"/>
            <a:ext cx="877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Month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48385-E6A0-E74E-29AD-62A43E6ED5A4}"/>
              </a:ext>
            </a:extLst>
          </p:cNvPr>
          <p:cNvSpPr txBox="1"/>
          <p:nvPr/>
        </p:nvSpPr>
        <p:spPr>
          <a:xfrm>
            <a:off x="8133430" y="5250744"/>
            <a:ext cx="2279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… Month 2 … Month 3 … etc.</a:t>
            </a:r>
          </a:p>
        </p:txBody>
      </p:sp>
    </p:spTree>
    <p:extLst>
      <p:ext uri="{BB962C8B-B14F-4D97-AF65-F5344CB8AC3E}">
        <p14:creationId xmlns:p14="http://schemas.microsoft.com/office/powerpoint/2010/main" val="140300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B5B5665-86AF-4F6B-BA40-92C80C93DC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6" b="78108"/>
          <a:stretch/>
        </p:blipFill>
        <p:spPr>
          <a:xfrm>
            <a:off x="0" y="273378"/>
            <a:ext cx="12192000" cy="1227968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AE29676-30C6-57EB-C902-2D21B2D32A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34" b="-211"/>
          <a:stretch/>
        </p:blipFill>
        <p:spPr>
          <a:xfrm>
            <a:off x="-2063" y="1439568"/>
            <a:ext cx="12192000" cy="512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FE79B-C736-EB4C-6BF4-CB469236B349}"/>
              </a:ext>
            </a:extLst>
          </p:cNvPr>
          <p:cNvSpPr txBox="1"/>
          <p:nvPr/>
        </p:nvSpPr>
        <p:spPr>
          <a:xfrm>
            <a:off x="2466775" y="3118564"/>
            <a:ext cx="31251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Repeat for each hour</a:t>
            </a:r>
          </a:p>
        </p:txBody>
      </p:sp>
    </p:spTree>
    <p:extLst>
      <p:ext uri="{BB962C8B-B14F-4D97-AF65-F5344CB8AC3E}">
        <p14:creationId xmlns:p14="http://schemas.microsoft.com/office/powerpoint/2010/main" val="4100637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1352-1C4F-0B95-6C02-0FEFAF8F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BB4C964-A22B-EFD6-AA0E-385B86DB0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01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E094-9AB9-47B4-9BA6-C14B7CD8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687F8-7D73-DAF0-3510-E46D7E0944F6}"/>
              </a:ext>
            </a:extLst>
          </p:cNvPr>
          <p:cNvSpPr txBox="1"/>
          <p:nvPr/>
        </p:nvSpPr>
        <p:spPr>
          <a:xfrm>
            <a:off x="4714628" y="3275111"/>
            <a:ext cx="31208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Respond to the prompts in the handout.</a:t>
            </a: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18B8888-B0D1-AFDA-A95E-42A4313BB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99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3CD62C6-4450-7604-061C-DCC21ADFE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55951C0-D682-F3A4-670D-605A9CF84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2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278</Words>
  <Application>Microsoft Office PowerPoint</Application>
  <PresentationFormat>Widescreen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Aligning the design to the 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Layton</dc:creator>
  <cp:lastModifiedBy>Richard Layton</cp:lastModifiedBy>
  <cp:revision>21</cp:revision>
  <dcterms:created xsi:type="dcterms:W3CDTF">2024-02-11T21:35:54Z</dcterms:created>
  <dcterms:modified xsi:type="dcterms:W3CDTF">2026-02-05T19:03:24Z</dcterms:modified>
</cp:coreProperties>
</file>